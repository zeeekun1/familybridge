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3639"/>
          </a:solidFill>
          <a:ln w="12700">
            <a:solidFill>
              <a:srgbClr val="2C36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914400"/>
            <a:ext cx="457200" cy="45720"/>
          </a:xfrm>
          <a:prstGeom prst="rect">
            <a:avLst/>
          </a:prstGeom>
          <a:solidFill>
            <a:srgbClr val="A3B8C6"/>
          </a:solidFill>
          <a:ln w="12700">
            <a:solidFill>
              <a:srgbClr val="A3B8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4206240"/>
            <a:ext cx="457200" cy="45720"/>
          </a:xfrm>
          <a:prstGeom prst="rect">
            <a:avLst/>
          </a:prstGeom>
          <a:solidFill>
            <a:srgbClr val="E6D5D5"/>
          </a:solidFill>
          <a:ln w="12700">
            <a:solidFill>
              <a:srgbClr val="E6D5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2026年中国高校计算机大赛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spc="300" kern="0" dirty="0">
                <a:solidFill>
                  <a:srgbClr val="A3B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AIGC 创新赛 · 应用赛道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00" b="1" spc="2000" kern="0" dirty="0">
                <a:solidFill>
                  <a:srgbClr val="A3B8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  语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3200400" y="3017520"/>
            <a:ext cx="2743200" cy="0"/>
          </a:xfrm>
          <a:prstGeom prst="line">
            <a:avLst/>
          </a:prstGeom>
          <a:noFill/>
          <a:ln w="19050">
            <a:solidFill>
              <a:srgbClr val="A3B8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2461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i="1" spc="2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想说，却说不出口 —— 让每一句说不出口的话，找到回家的路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spc="600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安语团队</a:t>
            </a:r>
            <a:endParaRPr lang="en-US" sz="13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8"/>
          </a:solidFill>
          <a:ln w="12700">
            <a:solidFill>
              <a:srgbClr val="FDFB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spc="800" kern="0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  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371600" cy="0"/>
          </a:xfrm>
          <a:prstGeom prst="line">
            <a:avLst/>
          </a:prstGeom>
          <a:noFill/>
          <a:ln w="25400">
            <a:solidFill>
              <a:srgbClr val="A3B8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645920"/>
            <a:ext cx="2286000" cy="2377440"/>
          </a:xfrm>
          <a:prstGeom prst="roundRect">
            <a:avLst>
              <a:gd name="adj" fmla="val 4800"/>
            </a:avLst>
          </a:prstGeom>
          <a:solidFill>
            <a:srgbClr val="FDFBF8"/>
          </a:solidFill>
          <a:ln w="635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8992" y="1920240"/>
            <a:ext cx="54864" cy="1828800"/>
          </a:xfrm>
          <a:prstGeom prst="rect">
            <a:avLst/>
          </a:prstGeom>
          <a:solidFill>
            <a:srgbClr val="A3B8C6"/>
          </a:solidFill>
          <a:ln w="12700">
            <a:solidFill>
              <a:srgbClr val="A3B8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874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A3B8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80160" y="2423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团队介绍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8346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安语团队成员与分工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1645920"/>
            <a:ext cx="2286000" cy="2377440"/>
          </a:xfrm>
          <a:prstGeom prst="roundRect">
            <a:avLst>
              <a:gd name="adj" fmla="val 4800"/>
            </a:avLst>
          </a:prstGeom>
          <a:solidFill>
            <a:srgbClr val="FDFBF8"/>
          </a:solidFill>
          <a:ln w="635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30752" y="1920240"/>
            <a:ext cx="54864" cy="1828800"/>
          </a:xfrm>
          <a:prstGeom prst="rect">
            <a:avLst/>
          </a:prstGeom>
          <a:solidFill>
            <a:srgbClr val="E6D5D5"/>
          </a:solidFill>
          <a:ln w="12700">
            <a:solidFill>
              <a:srgbClr val="E6D5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1874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E6D5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931920" y="2423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作品简介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31920" y="28346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产品概述与核心创新点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645920"/>
            <a:ext cx="2286000" cy="2377440"/>
          </a:xfrm>
          <a:prstGeom prst="roundRect">
            <a:avLst>
              <a:gd name="adj" fmla="val 4800"/>
            </a:avLst>
          </a:prstGeom>
          <a:solidFill>
            <a:srgbClr val="FDFBF8"/>
          </a:solidFill>
          <a:ln w="635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82512" y="1920240"/>
            <a:ext cx="54864" cy="1828800"/>
          </a:xfrm>
          <a:prstGeom prst="rect">
            <a:avLst/>
          </a:prstGeom>
          <a:solidFill>
            <a:srgbClr val="A3B8C6"/>
          </a:solidFill>
          <a:ln w="12700">
            <a:solidFill>
              <a:srgbClr val="A3B8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874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A3B8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583680" y="2423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作品策划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28346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设计理念 / 原型展示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创新点说明 / 前景评估</a:t>
            </a:r>
            <a:endParaRPr lang="en-US" sz="1100" dirty="0"/>
          </a:p>
        </p:txBody>
      </p:sp>
      <p:sp>
        <p:nvSpPr>
          <p:cNvPr id="2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8"/>
          </a:solidFill>
          <a:ln w="12700">
            <a:solidFill>
              <a:srgbClr val="FDFB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spc="600" kern="0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团队介绍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371600" cy="0"/>
          </a:xfrm>
          <a:prstGeom prst="line">
            <a:avLst/>
          </a:prstGeom>
          <a:noFill/>
          <a:ln w="25400">
            <a:solidFill>
              <a:srgbClr val="A3B8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45920"/>
            <a:ext cx="2743200" cy="2743200"/>
          </a:xfrm>
          <a:prstGeom prst="roundRect">
            <a:avLst>
              <a:gd name="adj" fmla="val 4000"/>
            </a:avLst>
          </a:prstGeom>
          <a:solidFill>
            <a:srgbClr val="A3B8C6"/>
          </a:solidFill>
          <a:ln w="635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945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spc="10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安语团队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Yu Team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1554480"/>
            <a:ext cx="4754880" cy="502920"/>
          </a:xfrm>
          <a:prstGeom prst="roundRect">
            <a:avLst>
              <a:gd name="adj" fmla="val 21818"/>
            </a:avLst>
          </a:prstGeom>
          <a:solidFill>
            <a:srgbClr val="FDFBF8"/>
          </a:solidFill>
          <a:ln w="6350">
            <a:solidFill>
              <a:srgbClr val="E0D8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1960" y="1627632"/>
            <a:ext cx="54864" cy="347472"/>
          </a:xfrm>
          <a:prstGeom prst="rect">
            <a:avLst/>
          </a:prstGeom>
          <a:solidFill>
            <a:srgbClr val="A3B8C6"/>
          </a:solidFill>
          <a:ln w="12700">
            <a:solidFill>
              <a:srgbClr val="A3B8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6002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产品经理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16002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1人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0" y="1600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需求分析、竞品调研、产品规划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0" y="2194560"/>
            <a:ext cx="4754880" cy="502920"/>
          </a:xfrm>
          <a:prstGeom prst="roundRect">
            <a:avLst>
              <a:gd name="adj" fmla="val 21818"/>
            </a:avLst>
          </a:prstGeom>
          <a:solidFill>
            <a:srgbClr val="FDFBF8"/>
          </a:solidFill>
          <a:ln w="6350">
            <a:solidFill>
              <a:srgbClr val="E0D8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2267712"/>
            <a:ext cx="54864" cy="347472"/>
          </a:xfrm>
          <a:prstGeom prst="rect">
            <a:avLst/>
          </a:prstGeom>
          <a:solidFill>
            <a:srgbClr val="A3B8C6"/>
          </a:solidFill>
          <a:ln w="12700">
            <a:solidFill>
              <a:srgbClr val="A3B8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2240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UI与交互设计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22402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0" y="22402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视觉设计、原型设计、交互流程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06240" y="2834640"/>
            <a:ext cx="4754880" cy="502920"/>
          </a:xfrm>
          <a:prstGeom prst="roundRect">
            <a:avLst>
              <a:gd name="adj" fmla="val 21818"/>
            </a:avLst>
          </a:prstGeom>
          <a:solidFill>
            <a:srgbClr val="FDFBF8"/>
          </a:solidFill>
          <a:ln w="6350">
            <a:solidFill>
              <a:srgbClr val="E0D8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51960" y="2907792"/>
            <a:ext cx="54864" cy="347472"/>
          </a:xfrm>
          <a:prstGeom prst="rect">
            <a:avLst/>
          </a:prstGeom>
          <a:solidFill>
            <a:srgbClr val="A3B8C6"/>
          </a:solidFill>
          <a:ln w="12700">
            <a:solidFill>
              <a:srgbClr val="A3B8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28803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前端开发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2880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1人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0" y="28803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小程序前端、交互实现、接口对接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06240" y="3474720"/>
            <a:ext cx="4754880" cy="502920"/>
          </a:xfrm>
          <a:prstGeom prst="roundRect">
            <a:avLst>
              <a:gd name="adj" fmla="val 21818"/>
            </a:avLst>
          </a:prstGeom>
          <a:solidFill>
            <a:srgbClr val="FDFBF8"/>
          </a:solidFill>
          <a:ln w="6350">
            <a:solidFill>
              <a:srgbClr val="E0D8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51960" y="3547872"/>
            <a:ext cx="54864" cy="347472"/>
          </a:xfrm>
          <a:prstGeom prst="rect">
            <a:avLst/>
          </a:prstGeom>
          <a:solidFill>
            <a:srgbClr val="A3B8C6"/>
          </a:solidFill>
          <a:ln w="12700">
            <a:solidFill>
              <a:srgbClr val="A3B8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35204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服务端开发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35204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1人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35204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后端架构、大模型接入、原子组件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06240" y="4114800"/>
            <a:ext cx="4754880" cy="502920"/>
          </a:xfrm>
          <a:prstGeom prst="roundRect">
            <a:avLst>
              <a:gd name="adj" fmla="val 21818"/>
            </a:avLst>
          </a:prstGeom>
          <a:solidFill>
            <a:srgbClr val="FDFBF8"/>
          </a:solidFill>
          <a:ln w="6350">
            <a:solidFill>
              <a:srgbClr val="E0D8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51960" y="4187952"/>
            <a:ext cx="54864" cy="347472"/>
          </a:xfrm>
          <a:prstGeom prst="rect">
            <a:avLst/>
          </a:prstGeom>
          <a:solidFill>
            <a:srgbClr val="E6D5D5"/>
          </a:solidFill>
          <a:ln w="12700">
            <a:solidFill>
              <a:srgbClr val="E6D5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4160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指导老师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92240" y="41605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1人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32320" y="41605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技术指导、方向把控、资源支持</a:t>
            </a:r>
            <a:endParaRPr lang="en-US" sz="1000" dirty="0"/>
          </a:p>
        </p:txBody>
      </p:sp>
      <p:sp>
        <p:nvSpPr>
          <p:cNvPr id="3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8"/>
          </a:solidFill>
          <a:ln w="12700">
            <a:solidFill>
              <a:srgbClr val="FDFB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spc="600" kern="0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作品简介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371600" cy="0"/>
          </a:xfrm>
          <a:prstGeom prst="line">
            <a:avLst/>
          </a:prstGeom>
          <a:noFill/>
          <a:ln w="25400">
            <a:solidFill>
              <a:srgbClr val="A3B8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7680960" cy="2011680"/>
          </a:xfrm>
          <a:prstGeom prst="roundRect">
            <a:avLst>
              <a:gd name="adj" fmla="val 5455"/>
            </a:avLst>
          </a:prstGeom>
          <a:solidFill>
            <a:srgbClr val="FDFBF8"/>
          </a:solidFill>
          <a:ln w="635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600200"/>
            <a:ext cx="7132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安语是一款面向中国家庭的情感传递应用，利用 AIGC 大模型（蓝心大模型 Doubao-Seed-2.0）将用户含蓄的情感意图转化为东方诗意表达，并通过 VIVO 原子组件直接送达家人手机桌面。产品面向成年子女与年迈父母之间的代际沟通场景，解决了“想说却说不出口”的情感表达困境。核心功能包括：意象选择、AI 诗意润色、双向家庭通信、情绪天气组件和 VIVO 原子组件桌面投递。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069080"/>
            <a:ext cx="731520" cy="0"/>
          </a:xfrm>
          <a:prstGeom prst="line">
            <a:avLst/>
          </a:prstGeom>
          <a:noFill/>
          <a:ln w="19050">
            <a:solidFill>
              <a:srgbClr val="A3B8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16052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A3B8C6"/>
          </a:solidFill>
          <a:ln w="12700">
            <a:solidFill>
              <a:srgbClr val="A3B8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160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东方意象表达体系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416052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E6D5D5"/>
          </a:solidFill>
          <a:ln w="12700">
            <a:solidFill>
              <a:srgbClr val="E6D5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4160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VIVO 原子组件桌面交付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416052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A3B8C6"/>
          </a:solidFill>
          <a:ln w="12700">
            <a:solidFill>
              <a:srgbClr val="A3B8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4160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双端非对等设计</a:t>
            </a:r>
            <a:endParaRPr lang="en-US" sz="1100" dirty="0"/>
          </a:p>
        </p:txBody>
      </p:sp>
      <p:sp>
        <p:nvSpPr>
          <p:cNvPr id="1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3639"/>
          </a:solidFill>
          <a:ln w="12700">
            <a:solidFill>
              <a:srgbClr val="2C36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200" b="1" spc="400" kern="0" dirty="0">
                <a:solidFill>
                  <a:srgbClr val="A3B8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743200" cy="0"/>
          </a:xfrm>
          <a:prstGeom prst="line">
            <a:avLst/>
          </a:prstGeom>
          <a:noFill/>
          <a:ln w="25400">
            <a:solidFill>
              <a:srgbClr val="A3B8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2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作品策划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" y="3657600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A3B8C6"/>
          </a:solidFill>
          <a:ln w="12700">
            <a:solidFill>
              <a:srgbClr val="A3B8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657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设计理念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26080" y="3657600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A3B8C6"/>
          </a:solidFill>
          <a:ln w="12700">
            <a:solidFill>
              <a:srgbClr val="A3B8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3657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原型展示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3657600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A3B8C6"/>
          </a:solidFill>
          <a:ln w="12700">
            <a:solidFill>
              <a:srgbClr val="A3B8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3657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3657600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A3B8C6"/>
          </a:solidFill>
          <a:ln w="12700">
            <a:solidFill>
              <a:srgbClr val="A3B8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3657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前景评估</a:t>
            </a:r>
            <a:endParaRPr lang="en-US" sz="1300" dirty="0"/>
          </a:p>
        </p:txBody>
      </p:sp>
      <p:sp>
        <p:nvSpPr>
          <p:cNvPr id="1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8"/>
          </a:solidFill>
          <a:ln w="12700">
            <a:solidFill>
              <a:srgbClr val="FDFB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spc="600" kern="0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作品设计理念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371600" cy="0"/>
          </a:xfrm>
          <a:prstGeom prst="line">
            <a:avLst/>
          </a:prstGeom>
          <a:noFill/>
          <a:ln w="25400">
            <a:solidFill>
              <a:srgbClr val="A3B8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3657600" cy="2011680"/>
          </a:xfrm>
          <a:prstGeom prst="roundRect">
            <a:avLst>
              <a:gd name="adj" fmla="val 5455"/>
            </a:avLst>
          </a:prstGeom>
          <a:solidFill>
            <a:srgbClr val="FDFBF8"/>
          </a:solidFill>
          <a:ln w="635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554480"/>
            <a:ext cx="54864" cy="1828800"/>
          </a:xfrm>
          <a:prstGeom prst="rect">
            <a:avLst/>
          </a:prstGeom>
          <a:solidFill>
            <a:srgbClr val="A3B8C6"/>
          </a:solidFill>
          <a:ln w="12700">
            <a:solidFill>
              <a:srgbClr val="A3B8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00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A3B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以“东方含蓄表达”为设计语言，用意象替代直白文字，让 AI 把粗糙情绪翻译成温柔诗意，再通过 VIVO 原子组件送达桌面——全家无需打开 APP 即可感知彼此心意。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657600" cy="2011680"/>
          </a:xfrm>
          <a:prstGeom prst="roundRect">
            <a:avLst>
              <a:gd name="adj" fmla="val 5455"/>
            </a:avLst>
          </a:prstGeom>
          <a:solidFill>
            <a:srgbClr val="FDFBF8"/>
          </a:solidFill>
          <a:ln w="635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54480"/>
            <a:ext cx="54864" cy="1828800"/>
          </a:xfrm>
          <a:prstGeom prst="rect">
            <a:avLst/>
          </a:prstGeom>
          <a:solidFill>
            <a:srgbClr val="E6D5D5"/>
          </a:solidFill>
          <a:ln w="12700">
            <a:solidFill>
              <a:srgbClr val="E6D5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600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6D5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设计背景与洞察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0116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 65% 成年子女与父母“几乎只聊吃饭和身体”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60+ 岁父母日均手机使用 3.4 小时，与子女主动沟通不到 6 分钟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微信对家人“说不出口”的撤回率是同事会话的 3 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7680960" cy="822960"/>
          </a:xfrm>
          <a:prstGeom prst="roundRect">
            <a:avLst>
              <a:gd name="adj" fmla="val 11111"/>
            </a:avLst>
          </a:prstGeom>
          <a:solidFill>
            <a:srgbClr val="A3B8C6"/>
          </a:solidFill>
          <a:ln w="12700">
            <a:solidFill>
              <a:srgbClr val="A3B8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8221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理念贯穿性：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41148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含蓄表达 → 贯穿意象体系、诗意润色、双端非对等视觉设计、原子组件无感投递</a:t>
            </a:r>
            <a:endParaRPr lang="en-US" sz="12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8"/>
          </a:solidFill>
          <a:ln w="12700">
            <a:solidFill>
              <a:srgbClr val="FDFB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spc="400" kern="0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产品原型设计与效果展示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371600" cy="0"/>
          </a:xfrm>
          <a:prstGeom prst="line">
            <a:avLst/>
          </a:prstGeom>
          <a:noFill/>
          <a:ln w="25400">
            <a:solidFill>
              <a:srgbClr val="A3B8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3474720" cy="914400"/>
          </a:xfrm>
          <a:prstGeom prst="roundRect">
            <a:avLst>
              <a:gd name="adj" fmla="val 12000"/>
            </a:avLst>
          </a:prstGeom>
          <a:solidFill>
            <a:srgbClr val="FDFBF8"/>
          </a:solidFill>
          <a:ln w="635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508760"/>
            <a:ext cx="54864" cy="731520"/>
          </a:xfrm>
          <a:prstGeom prst="rect">
            <a:avLst/>
          </a:prstGeom>
          <a:solidFill>
            <a:srgbClr val="A3B8C6"/>
          </a:solidFill>
          <a:ln w="12700">
            <a:solidFill>
              <a:srgbClr val="A3B8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A3B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核心功能卖点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四步闭环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05840" y="2514600"/>
            <a:ext cx="640080" cy="320040"/>
          </a:xfrm>
          <a:prstGeom prst="roundRect">
            <a:avLst>
              <a:gd name="adj" fmla="val 17143"/>
            </a:avLst>
          </a:prstGeom>
          <a:solidFill>
            <a:srgbClr val="A3B8C6"/>
          </a:solidFill>
          <a:ln w="12700">
            <a:solidFill>
              <a:srgbClr val="A3B8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5146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64208" y="251460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74520" y="2514600"/>
            <a:ext cx="640080" cy="320040"/>
          </a:xfrm>
          <a:prstGeom prst="roundRect">
            <a:avLst>
              <a:gd name="adj" fmla="val 17143"/>
            </a:avLst>
          </a:prstGeom>
          <a:solidFill>
            <a:srgbClr val="E6D5D5"/>
          </a:solidFill>
          <a:ln w="12700">
            <a:solidFill>
              <a:srgbClr val="E6D5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25146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诗意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32888" y="251460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0" y="2514600"/>
            <a:ext cx="640080" cy="320040"/>
          </a:xfrm>
          <a:prstGeom prst="roundRect">
            <a:avLst>
              <a:gd name="adj" fmla="val 17143"/>
            </a:avLst>
          </a:prstGeom>
          <a:solidFill>
            <a:srgbClr val="A3B8C6"/>
          </a:solidFill>
          <a:ln w="12700">
            <a:solidFill>
              <a:srgbClr val="A3B8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25146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投递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01568" y="251460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11880" y="2514600"/>
            <a:ext cx="640080" cy="320040"/>
          </a:xfrm>
          <a:prstGeom prst="roundRect">
            <a:avLst>
              <a:gd name="adj" fmla="val 17143"/>
            </a:avLst>
          </a:prstGeom>
          <a:solidFill>
            <a:srgbClr val="E6D5D5"/>
          </a:solidFill>
          <a:ln w="12700">
            <a:solidFill>
              <a:srgbClr val="E6D5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25146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接住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2971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核心界面：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2461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首页家庭时光轴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意象选择器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诗意润色预览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收件箱 / 原子组件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417320"/>
            <a:ext cx="3749040" cy="3291840"/>
          </a:xfrm>
          <a:prstGeom prst="roundRect">
            <a:avLst>
              <a:gd name="adj" fmla="val 3333"/>
            </a:avLst>
          </a:prstGeom>
          <a:solidFill>
            <a:srgbClr val="FDFBF8"/>
          </a:solidFill>
          <a:ln w="635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1508760"/>
            <a:ext cx="54864" cy="3108960"/>
          </a:xfrm>
          <a:prstGeom prst="rect">
            <a:avLst/>
          </a:prstGeom>
          <a:solidFill>
            <a:srgbClr val="E6D5D5"/>
          </a:solidFill>
          <a:ln w="12700">
            <a:solidFill>
              <a:srgbClr val="E6D5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554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6D5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界面设计说明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19659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整体视觉风格：东方极简，天青+藕粉+米白三色体系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双端非对等设计：孩子端紧凑精致，父母端大字号慢节奏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孩子端采用含蓄克制的紧凑布局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父母端大字号、高对比度、简洁操作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474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色彩体系：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37760" y="379476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A3B8C6"/>
          </a:solidFill>
          <a:ln w="12700">
            <a:solidFill>
              <a:srgbClr val="A3B8C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794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天青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379476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E6D5D5"/>
          </a:solidFill>
          <a:ln w="12700">
            <a:solidFill>
              <a:srgbClr val="E6D5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3794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藕粉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15200" y="379476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FDFBF8"/>
          </a:solidFill>
          <a:ln w="12700">
            <a:solidFill>
              <a:srgbClr val="FDFB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3794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米白</a:t>
            </a:r>
            <a:endParaRPr lang="en-US" sz="900" dirty="0"/>
          </a:p>
        </p:txBody>
      </p:sp>
      <p:sp>
        <p:nvSpPr>
          <p:cNvPr id="3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8"/>
          </a:solidFill>
          <a:ln w="12700">
            <a:solidFill>
              <a:srgbClr val="FDFB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spc="400" kern="0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交互设计与大模型应用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371600" cy="0"/>
          </a:xfrm>
          <a:prstGeom prst="line">
            <a:avLst/>
          </a:prstGeom>
          <a:noFill/>
          <a:ln w="25400">
            <a:solidFill>
              <a:srgbClr val="A3B8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A3B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交互流程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A3B8C6"/>
          </a:solidFill>
          <a:ln w="12700">
            <a:solidFill>
              <a:srgbClr val="A3B8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28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选意象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84248" y="2258568"/>
            <a:ext cx="23774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240280" y="182880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E6D5D5"/>
          </a:solidFill>
          <a:ln w="12700">
            <a:solidFill>
              <a:srgbClr val="E6D5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1828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AI润色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30168" y="2258568"/>
            <a:ext cx="23774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886200" y="182880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A3B8C6"/>
          </a:solidFill>
          <a:ln w="12700">
            <a:solidFill>
              <a:srgbClr val="A3B8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1828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预览诗意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76088" y="2258568"/>
            <a:ext cx="23774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532120" y="182880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E6D5D5"/>
          </a:solidFill>
          <a:ln w="12700">
            <a:solidFill>
              <a:srgbClr val="E6D5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1828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投递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22008" y="2258568"/>
            <a:ext cx="23774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7178040" y="182880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A3B8C6"/>
          </a:solidFill>
          <a:ln w="12700">
            <a:solidFill>
              <a:srgbClr val="A3B8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1828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桌面接住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2514600"/>
            <a:ext cx="7680960" cy="2331720"/>
          </a:xfrm>
          <a:prstGeom prst="roundRect">
            <a:avLst>
              <a:gd name="adj" fmla="val 4706"/>
            </a:avLst>
          </a:prstGeom>
          <a:solidFill>
            <a:srgbClr val="FDFBF8"/>
          </a:solidFill>
          <a:ln w="635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2606040"/>
            <a:ext cx="54864" cy="2103120"/>
          </a:xfrm>
          <a:prstGeom prst="rect">
            <a:avLst/>
          </a:prstGeom>
          <a:solidFill>
            <a:srgbClr val="A3B8C6"/>
          </a:solidFill>
          <a:ln w="12700">
            <a:solidFill>
              <a:srgbClr val="A3B8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2651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A3B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大模型应用说明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VIVO 蓝心大模型 Doubao-Seed-2.0 API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3832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大能力：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3611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诗意润色、情绪分析、季节感知、关系感知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意象推荐、翻译润色、父母简写扩写、孩子口语精炼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0" y="3063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三层降级策略：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33375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第一层：蓝心大模型（优质诗意）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第二层：通用 LLM（基础润色）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第三层：本地模板（离线可用）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03520" y="4206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i="1" dirty="0">
                <a:solidFill>
                  <a:srgbClr val="A3B8C6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AI 不替代表达，而是翻译情绪</a:t>
            </a:r>
            <a:endParaRPr lang="en-US" sz="13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8"/>
          </a:solidFill>
          <a:ln w="12700">
            <a:solidFill>
              <a:srgbClr val="FDFB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spc="600" kern="0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创新点说明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371600" cy="0"/>
          </a:xfrm>
          <a:prstGeom prst="line">
            <a:avLst/>
          </a:prstGeom>
          <a:noFill/>
          <a:ln w="25400">
            <a:solidFill>
              <a:srgbClr val="A3B8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6304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FDFBF8"/>
          </a:solidFill>
          <a:ln w="635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1600200"/>
            <a:ext cx="54864" cy="1188720"/>
          </a:xfrm>
          <a:prstGeom prst="rect">
            <a:avLst/>
          </a:prstGeom>
          <a:solidFill>
            <a:srgbClr val="A3B8C6"/>
          </a:solidFill>
          <a:ln w="12700">
            <a:solidFill>
              <a:srgbClr val="A3B8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0020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A3B8C6"/>
          </a:solidFill>
          <a:ln w="12700">
            <a:solidFill>
              <a:srgbClr val="A3B8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00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08760" y="1600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A3B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方案创新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0116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东方含蓄表达体系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3317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首个将“东方含蓄表达”体系化的产品，用意象替代直白文字，让情感有了更柔和的出口。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46304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FDFBF8"/>
          </a:solidFill>
          <a:ln w="635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45152" y="1600200"/>
            <a:ext cx="54864" cy="1188720"/>
          </a:xfrm>
          <a:prstGeom prst="rect">
            <a:avLst/>
          </a:prstGeom>
          <a:solidFill>
            <a:srgbClr val="E6D5D5"/>
          </a:solidFill>
          <a:ln w="12700">
            <a:solidFill>
              <a:srgbClr val="E6D5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60020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E6D5D5"/>
          </a:solidFill>
          <a:ln w="12700">
            <a:solidFill>
              <a:srgbClr val="E6D5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600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94960" y="1600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D5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交互创新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0116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VIVO 原子组件交付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23317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VIVO 原子组件作为主要交付载体，全家桌面无感接收，无需打开 APP。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315468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FDFBF8"/>
          </a:solidFill>
          <a:ln w="635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8952" y="3291840"/>
            <a:ext cx="54864" cy="1188720"/>
          </a:xfrm>
          <a:prstGeom prst="rect">
            <a:avLst/>
          </a:prstGeom>
          <a:solidFill>
            <a:srgbClr val="A3B8C6"/>
          </a:solidFill>
          <a:ln w="12700">
            <a:solidFill>
              <a:srgbClr val="A3B8C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329184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A3B8C6"/>
          </a:solidFill>
          <a:ln w="12700">
            <a:solidFill>
              <a:srgbClr val="A3B8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291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08760" y="3291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A3B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功能创新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37033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双向非对等设计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40233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孩子端含蓄润色，父母端大字无门槛，两端体验各安其位。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315468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FDFBF8"/>
          </a:solidFill>
          <a:ln w="635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45152" y="3291840"/>
            <a:ext cx="54864" cy="1188720"/>
          </a:xfrm>
          <a:prstGeom prst="rect">
            <a:avLst/>
          </a:prstGeom>
          <a:solidFill>
            <a:srgbClr val="E6D5D5"/>
          </a:solidFill>
          <a:ln w="12700">
            <a:solidFill>
              <a:srgbClr val="E6D5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329184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E6D5D5"/>
          </a:solidFill>
          <a:ln w="12700">
            <a:solidFill>
              <a:srgbClr val="E6D5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291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94960" y="3291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6D5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技术创新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46320" y="37033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AIGC 诗意引擎 + 降级策略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46320" y="40233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AIGC 诗意润色引擎 + 三层降级策略，确保在任何网络条件下都可用。</a:t>
            </a:r>
            <a:endParaRPr lang="en-US" sz="1100" dirty="0"/>
          </a:p>
        </p:txBody>
      </p:sp>
      <p:sp>
        <p:nvSpPr>
          <p:cNvPr id="3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8"/>
          </a:solidFill>
          <a:ln w="12700">
            <a:solidFill>
              <a:srgbClr val="FDFB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spc="600" kern="0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前景评估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371600" cy="0"/>
          </a:xfrm>
          <a:prstGeom prst="line">
            <a:avLst/>
          </a:prstGeom>
          <a:noFill/>
          <a:ln w="25400">
            <a:solidFill>
              <a:srgbClr val="A3B8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FDFBF8"/>
          </a:solidFill>
          <a:ln w="635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508760"/>
            <a:ext cx="54864" cy="2011680"/>
          </a:xfrm>
          <a:prstGeom prst="rect">
            <a:avLst/>
          </a:prstGeom>
          <a:solidFill>
            <a:srgbClr val="A3B8C6"/>
          </a:solidFill>
          <a:ln w="12700">
            <a:solidFill>
              <a:srgbClr val="A3B8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A3B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用户需求程度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9659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目标用户：30-50 岁城市子女 + 55-75 岁银发父母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核心痛点：想说说不出口，微信沟通表层化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使用场景：日常牵挂、节日祝福、道歉说不出口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社会价值：弥合代际情感鸿沟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4023360" cy="2194560"/>
          </a:xfrm>
          <a:prstGeom prst="roundRect">
            <a:avLst>
              <a:gd name="adj" fmla="val 5000"/>
            </a:avLst>
          </a:prstGeom>
          <a:solidFill>
            <a:srgbClr val="FDFBF8"/>
          </a:solidFill>
          <a:ln w="635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08760"/>
            <a:ext cx="54864" cy="2011680"/>
          </a:xfrm>
          <a:prstGeom prst="rect">
            <a:avLst/>
          </a:prstGeom>
          <a:solidFill>
            <a:srgbClr val="E6D5D5"/>
          </a:solidFill>
          <a:ln w="12700">
            <a:solidFill>
              <a:srgbClr val="E6D5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6D5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市场欢迎程度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对比微信家庭群（无情感设计）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对比念念类APP（要打开 APP）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安语优势：桌面原子组件直达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东方美学差异化 + VIVO 系统级入口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A3B8C6"/>
          </a:solidFill>
          <a:ln w="12700">
            <a:solidFill>
              <a:srgbClr val="A3B8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商业路径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1605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83080" y="4160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VIVO OriginOS 官方推荐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6160" y="41605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43400" y="4160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老年大学 / 社区养老合作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41605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03720" y="4160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跨端+ToB银发健康</a:t>
            </a:r>
            <a:endParaRPr lang="en-US" sz="1000" dirty="0"/>
          </a:p>
        </p:txBody>
      </p:sp>
      <p:sp>
        <p:nvSpPr>
          <p:cNvPr id="2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3639"/>
          </a:solidFill>
          <a:ln w="12700">
            <a:solidFill>
              <a:srgbClr val="2C36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914400"/>
            <a:ext cx="457200" cy="45720"/>
          </a:xfrm>
          <a:prstGeom prst="rect">
            <a:avLst/>
          </a:prstGeom>
          <a:solidFill>
            <a:srgbClr val="A3B8C6"/>
          </a:solidFill>
          <a:ln w="12700">
            <a:solidFill>
              <a:srgbClr val="A3B8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4206240"/>
            <a:ext cx="457200" cy="45720"/>
          </a:xfrm>
          <a:prstGeom prst="rect">
            <a:avLst/>
          </a:prstGeom>
          <a:solidFill>
            <a:srgbClr val="E6D5D5"/>
          </a:solidFill>
          <a:ln w="12700">
            <a:solidFill>
              <a:srgbClr val="E6D5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00" b="1" spc="1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感谢观看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19050">
            <a:solidFill>
              <a:srgbClr val="A3B8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3063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i="1" spc="200" kern="0" dirty="0">
                <a:solidFill>
                  <a:srgbClr val="A3B8C6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让每一句说不出口的话，都能找到回家的路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spc="400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安语团队</a:t>
            </a:r>
            <a:endParaRPr lang="en-US" sz="13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安语 - 想说，却说不出口</dc:title>
  <dc:subject>2026年中国高校计算机大赛 - AIGC创新赛·应用赛道</dc:subject>
  <dc:creator>安语团队</dc:creator>
  <cp:lastModifiedBy>安语团队</cp:lastModifiedBy>
  <cp:revision>1</cp:revision>
  <dcterms:created xsi:type="dcterms:W3CDTF">2026-07-05T18:06:24Z</dcterms:created>
  <dcterms:modified xsi:type="dcterms:W3CDTF">2026-07-05T18:06:24Z</dcterms:modified>
</cp:coreProperties>
</file>